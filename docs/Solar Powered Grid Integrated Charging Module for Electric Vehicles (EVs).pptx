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307" r:id="rId5"/>
    <p:sldId id="308" r:id="rId6"/>
    <p:sldId id="260" r:id="rId7"/>
    <p:sldId id="290" r:id="rId8"/>
    <p:sldId id="274" r:id="rId9"/>
    <p:sldId id="301" r:id="rId10"/>
    <p:sldId id="305" r:id="rId11"/>
    <p:sldId id="304" r:id="rId12"/>
    <p:sldId id="273" r:id="rId13"/>
    <p:sldId id="306" r:id="rId14"/>
    <p:sldId id="275" r:id="rId15"/>
    <p:sldId id="279" r:id="rId16"/>
    <p:sldId id="309" r:id="rId17"/>
    <p:sldId id="29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view" id="{9D888B0B-FB88-4F4A-8E9D-95E6112310B1}">
          <p14:sldIdLst>
            <p14:sldId id="256"/>
            <p14:sldId id="257"/>
            <p14:sldId id="259"/>
            <p14:sldId id="307"/>
            <p14:sldId id="308"/>
            <p14:sldId id="260"/>
            <p14:sldId id="290"/>
            <p14:sldId id="274"/>
            <p14:sldId id="301"/>
            <p14:sldId id="305"/>
            <p14:sldId id="304"/>
            <p14:sldId id="273"/>
            <p14:sldId id="306"/>
            <p14:sldId id="275"/>
            <p14:sldId id="279"/>
            <p14:sldId id="309"/>
            <p14:sldId id="29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94CF8-F03B-4702-8EEA-29009FD65928}" v="4" dt="2026-04-11T17:04:22.0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07" autoAdjust="0"/>
    <p:restoredTop sz="94660" autoAdjust="0"/>
  </p:normalViewPr>
  <p:slideViewPr>
    <p:cSldViewPr snapToGrid="0" showGuides="1">
      <p:cViewPr varScale="1">
        <p:scale>
          <a:sx n="78" d="100"/>
          <a:sy n="78" d="100"/>
        </p:scale>
        <p:origin x="888" y="72"/>
      </p:cViewPr>
      <p:guideLst>
        <p:guide orient="horz" pos="2160"/>
        <p:guide pos="3840"/>
      </p:guideLst>
    </p:cSldViewPr>
  </p:slideViewPr>
  <p:outlineViewPr>
    <p:cViewPr>
      <p:scale>
        <a:sx n="33" d="100"/>
        <a:sy n="33" d="100"/>
      </p:scale>
      <p:origin x="0" y="252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ram Chodavaram" userId="c9cd57d97afd8132" providerId="LiveId" clId="{F1E7568B-439A-4088-ACF8-4BAD59433DEE}"/>
    <pc:docChg chg="undo custSel modSld sldOrd">
      <pc:chgData name="Sriram Chodavaram" userId="c9cd57d97afd8132" providerId="LiveId" clId="{F1E7568B-439A-4088-ACF8-4BAD59433DEE}" dt="2026-04-11T17:07:14.822" v="2044" actId="20577"/>
      <pc:docMkLst>
        <pc:docMk/>
      </pc:docMkLst>
      <pc:sldChg chg="addSp delSp modSp mod">
        <pc:chgData name="Sriram Chodavaram" userId="c9cd57d97afd8132" providerId="LiveId" clId="{F1E7568B-439A-4088-ACF8-4BAD59433DEE}" dt="2026-04-11T17:07:14.822" v="2044" actId="20577"/>
        <pc:sldMkLst>
          <pc:docMk/>
          <pc:sldMk cId="0" sldId="256"/>
        </pc:sldMkLst>
        <pc:spChg chg="mod">
          <ac:chgData name="Sriram Chodavaram" userId="c9cd57d97afd8132" providerId="LiveId" clId="{F1E7568B-439A-4088-ACF8-4BAD59433DEE}" dt="2026-04-11T17:07:14.822" v="2044" actId="20577"/>
          <ac:spMkLst>
            <pc:docMk/>
            <pc:sldMk cId="0" sldId="256"/>
            <ac:spMk id="6" creationId="{00000000-0000-0000-0000-000000000000}"/>
          </ac:spMkLst>
        </pc:spChg>
        <pc:spChg chg="mod">
          <ac:chgData name="Sriram Chodavaram" userId="c9cd57d97afd8132" providerId="LiveId" clId="{F1E7568B-439A-4088-ACF8-4BAD59433DEE}" dt="2026-04-11T17:05:54.306" v="1985" actId="1076"/>
          <ac:spMkLst>
            <pc:docMk/>
            <pc:sldMk cId="0" sldId="256"/>
            <ac:spMk id="9" creationId="{00000000-0000-0000-0000-000000000000}"/>
          </ac:spMkLst>
        </pc:spChg>
        <pc:spChg chg="mod">
          <ac:chgData name="Sriram Chodavaram" userId="c9cd57d97afd8132" providerId="LiveId" clId="{F1E7568B-439A-4088-ACF8-4BAD59433DEE}" dt="2026-04-11T17:05:49.685" v="1984" actId="1076"/>
          <ac:spMkLst>
            <pc:docMk/>
            <pc:sldMk cId="0" sldId="256"/>
            <ac:spMk id="11" creationId="{00000000-0000-0000-0000-000000000000}"/>
          </ac:spMkLst>
        </pc:spChg>
        <pc:picChg chg="add del mod">
          <ac:chgData name="Sriram Chodavaram" userId="c9cd57d97afd8132" providerId="LiveId" clId="{F1E7568B-439A-4088-ACF8-4BAD59433DEE}" dt="2026-04-11T17:04:05.453" v="1921" actId="478"/>
          <ac:picMkLst>
            <pc:docMk/>
            <pc:sldMk cId="0" sldId="256"/>
            <ac:picMk id="2" creationId="{0D4D5348-4619-0911-FFBC-4C8418230BD0}"/>
          </ac:picMkLst>
        </pc:picChg>
        <pc:picChg chg="mod">
          <ac:chgData name="Sriram Chodavaram" userId="c9cd57d97afd8132" providerId="LiveId" clId="{F1E7568B-439A-4088-ACF8-4BAD59433DEE}" dt="2026-04-11T17:05:17.707" v="1975" actId="1076"/>
          <ac:picMkLst>
            <pc:docMk/>
            <pc:sldMk cId="0" sldId="256"/>
            <ac:picMk id="8" creationId="{00000000-0000-0000-0000-000000000000}"/>
          </ac:picMkLst>
        </pc:picChg>
      </pc:sldChg>
      <pc:sldChg chg="addSp delSp modSp mod">
        <pc:chgData name="Sriram Chodavaram" userId="c9cd57d97afd8132" providerId="LiveId" clId="{F1E7568B-439A-4088-ACF8-4BAD59433DEE}" dt="2026-03-12T03:58:46.953" v="1640" actId="1076"/>
        <pc:sldMkLst>
          <pc:docMk/>
          <pc:sldMk cId="0" sldId="259"/>
        </pc:sldMkLst>
        <pc:spChg chg="mod">
          <ac:chgData name="Sriram Chodavaram" userId="c9cd57d97afd8132" providerId="LiveId" clId="{F1E7568B-439A-4088-ACF8-4BAD59433DEE}" dt="2026-03-12T03:58:46.953" v="1640" actId="1076"/>
          <ac:spMkLst>
            <pc:docMk/>
            <pc:sldMk cId="0" sldId="259"/>
            <ac:spMk id="4" creationId="{00000000-0000-0000-0000-000000000000}"/>
          </ac:spMkLst>
        </pc:spChg>
      </pc:sldChg>
      <pc:sldChg chg="modSp mod">
        <pc:chgData name="Sriram Chodavaram" userId="c9cd57d97afd8132" providerId="LiveId" clId="{F1E7568B-439A-4088-ACF8-4BAD59433DEE}" dt="2026-03-12T03:56:02.337" v="1629" actId="20577"/>
        <pc:sldMkLst>
          <pc:docMk/>
          <pc:sldMk cId="0" sldId="273"/>
        </pc:sldMkLst>
        <pc:spChg chg="mod">
          <ac:chgData name="Sriram Chodavaram" userId="c9cd57d97afd8132" providerId="LiveId" clId="{F1E7568B-439A-4088-ACF8-4BAD59433DEE}" dt="2026-03-12T03:56:02.337" v="1629" actId="20577"/>
          <ac:spMkLst>
            <pc:docMk/>
            <pc:sldMk cId="0" sldId="273"/>
            <ac:spMk id="4" creationId="{00000000-0000-0000-0000-000000000000}"/>
          </ac:spMkLst>
        </pc:spChg>
      </pc:sldChg>
      <pc:sldChg chg="modSp mod">
        <pc:chgData name="Sriram Chodavaram" userId="c9cd57d97afd8132" providerId="LiveId" clId="{F1E7568B-439A-4088-ACF8-4BAD59433DEE}" dt="2026-03-12T03:57:08.817" v="1636" actId="1076"/>
        <pc:sldMkLst>
          <pc:docMk/>
          <pc:sldMk cId="0" sldId="275"/>
        </pc:sldMkLst>
        <pc:spChg chg="mod">
          <ac:chgData name="Sriram Chodavaram" userId="c9cd57d97afd8132" providerId="LiveId" clId="{F1E7568B-439A-4088-ACF8-4BAD59433DEE}" dt="2026-03-12T03:57:08.817" v="1636" actId="1076"/>
          <ac:spMkLst>
            <pc:docMk/>
            <pc:sldMk cId="0" sldId="275"/>
            <ac:spMk id="5" creationId="{00000000-0000-0000-0000-000000000000}"/>
          </ac:spMkLst>
        </pc:spChg>
      </pc:sldChg>
      <pc:sldChg chg="modSp mod ord">
        <pc:chgData name="Sriram Chodavaram" userId="c9cd57d97afd8132" providerId="LiveId" clId="{F1E7568B-439A-4088-ACF8-4BAD59433DEE}" dt="2026-03-12T07:05:17.610" v="1899"/>
        <pc:sldMkLst>
          <pc:docMk/>
          <pc:sldMk cId="0" sldId="279"/>
        </pc:sldMkLst>
        <pc:spChg chg="mod">
          <ac:chgData name="Sriram Chodavaram" userId="c9cd57d97afd8132" providerId="LiveId" clId="{F1E7568B-439A-4088-ACF8-4BAD59433DEE}" dt="2026-03-12T03:57:39.208" v="1639" actId="1076"/>
          <ac:spMkLst>
            <pc:docMk/>
            <pc:sldMk cId="0" sldId="279"/>
            <ac:spMk id="4" creationId="{00000000-0000-0000-0000-000000000000}"/>
          </ac:spMkLst>
        </pc:spChg>
        <pc:spChg chg="mod">
          <ac:chgData name="Sriram Chodavaram" userId="c9cd57d97afd8132" providerId="LiveId" clId="{F1E7568B-439A-4088-ACF8-4BAD59433DEE}" dt="2026-03-12T06:55:50.262" v="1645" actId="14100"/>
          <ac:spMkLst>
            <pc:docMk/>
            <pc:sldMk cId="0" sldId="279"/>
            <ac:spMk id="5" creationId="{00000000-0000-0000-0000-000000000000}"/>
          </ac:spMkLst>
        </pc:spChg>
      </pc:sldChg>
      <pc:sldChg chg="addSp modSp mod">
        <pc:chgData name="Sriram Chodavaram" userId="c9cd57d97afd8132" providerId="LiveId" clId="{F1E7568B-439A-4088-ACF8-4BAD59433DEE}" dt="2026-03-12T07:05:07.211" v="1897" actId="27636"/>
        <pc:sldMkLst>
          <pc:docMk/>
          <pc:sldMk cId="0" sldId="301"/>
        </pc:sldMkLst>
        <pc:spChg chg="mod">
          <ac:chgData name="Sriram Chodavaram" userId="c9cd57d97afd8132" providerId="LiveId" clId="{F1E7568B-439A-4088-ACF8-4BAD59433DEE}" dt="2026-03-12T03:59:40.150" v="1641" actId="1076"/>
          <ac:spMkLst>
            <pc:docMk/>
            <pc:sldMk cId="0" sldId="301"/>
            <ac:spMk id="4" creationId="{00000000-0000-0000-0000-000000000000}"/>
          </ac:spMkLst>
        </pc:spChg>
        <pc:spChg chg="mod">
          <ac:chgData name="Sriram Chodavaram" userId="c9cd57d97afd8132" providerId="LiveId" clId="{F1E7568B-439A-4088-ACF8-4BAD59433DEE}" dt="2026-03-12T07:05:07.211" v="1897" actId="27636"/>
          <ac:spMkLst>
            <pc:docMk/>
            <pc:sldMk cId="0" sldId="301"/>
            <ac:spMk id="7" creationId="{00000000-0000-0000-0000-000000000000}"/>
          </ac:spMkLst>
        </pc:spChg>
      </pc:sldChg>
      <pc:sldChg chg="addSp delSp modSp mod">
        <pc:chgData name="Sriram Chodavaram" userId="c9cd57d97afd8132" providerId="LiveId" clId="{F1E7568B-439A-4088-ACF8-4BAD59433DEE}" dt="2026-03-12T09:01:24.511" v="1906" actId="14100"/>
        <pc:sldMkLst>
          <pc:docMk/>
          <pc:sldMk cId="0" sldId="309"/>
        </pc:sldMkLst>
        <pc:spChg chg="add mod">
          <ac:chgData name="Sriram Chodavaram" userId="c9cd57d97afd8132" providerId="LiveId" clId="{F1E7568B-439A-4088-ACF8-4BAD59433DEE}" dt="2026-03-12T09:01:24.511" v="1906" actId="14100"/>
          <ac:spMkLst>
            <pc:docMk/>
            <pc:sldMk cId="0" sldId="309"/>
            <ac:spMk id="3" creationId="{4BE67E6E-08F9-F7E8-5B7C-344C7DFDEC39}"/>
          </ac:spMkLst>
        </pc:spChg>
        <pc:spChg chg="mod">
          <ac:chgData name="Sriram Chodavaram" userId="c9cd57d97afd8132" providerId="LiveId" clId="{F1E7568B-439A-4088-ACF8-4BAD59433DEE}" dt="2026-03-12T03:57:27.829" v="1638" actId="1076"/>
          <ac:spMkLst>
            <pc:docMk/>
            <pc:sldMk cId="0" sldId="309"/>
            <ac:spMk id="4" creationId="{00000000-0000-0000-0000-000000000000}"/>
          </ac:spMkLst>
        </pc:spChg>
        <pc:graphicFrameChg chg="add mod modGraphic">
          <ac:chgData name="Sriram Chodavaram" userId="c9cd57d97afd8132" providerId="LiveId" clId="{F1E7568B-439A-4088-ACF8-4BAD59433DEE}" dt="2026-03-12T07:02:46.809" v="1877" actId="2711"/>
          <ac:graphicFrameMkLst>
            <pc:docMk/>
            <pc:sldMk cId="0" sldId="309"/>
            <ac:graphicFrameMk id="5" creationId="{F38BADD6-E1EC-6474-36B4-C5AD98A2EFEB}"/>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EACB61D-E7E0-4A3B-AC76-64CAFFF848D3}"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EACB61D-E7E0-4A3B-AC76-64CAFFF848D3}" type="datetimeFigureOut">
              <a:rPr lang="en-IN" smtClean="0"/>
              <a:t>02-08-2026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EACB61D-E7E0-4A3B-AC76-64CAFFF848D3}" type="datetimeFigureOut">
              <a:rPr lang="en-IN" smtClean="0"/>
              <a:t>02-08-2026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ACB61D-E7E0-4A3B-AC76-64CAFFF848D3}" type="datetimeFigureOut">
              <a:rPr lang="en-IN" smtClean="0"/>
              <a:t>02-08-2026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CB61D-E7E0-4A3B-AC76-64CAFFF848D3}"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ACB61D-E7E0-4A3B-AC76-64CAFFF848D3}" type="datetimeFigureOut">
              <a:rPr lang="en-IN" smtClean="0"/>
              <a:t>02-08-2026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ACB61D-E7E0-4A3B-AC76-64CAFFF848D3}" type="datetimeFigureOut">
              <a:rPr lang="en-IN" smtClean="0"/>
              <a:t>02-08-2026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99B063-D62E-48F4-9E2C-61B2C7B9DC27}"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ACB61D-E7E0-4A3B-AC76-64CAFFF848D3}" type="datetimeFigureOut">
              <a:rPr lang="en-IN" smtClean="0"/>
              <a:t>02-08-2026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99B063-D62E-48F4-9E2C-61B2C7B9DC27}"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52670" y="116205"/>
            <a:ext cx="2198370" cy="321945"/>
          </a:xfrm>
          <a:prstGeom prst="rect">
            <a:avLst/>
          </a:prstGeom>
          <a:noFill/>
        </p:spPr>
        <p:txBody>
          <a:bodyPr wrap="square" rtlCol="0">
            <a:noAutofit/>
          </a:bodyPr>
          <a:lstStyle/>
          <a:p>
            <a:r>
              <a:rPr lang="en-IN" dirty="0">
                <a:latin typeface="Times New Roman" panose="02020603050405020304" pitchFamily="18" charset="0"/>
                <a:cs typeface="Times New Roman" panose="02020603050405020304" pitchFamily="18" charset="0"/>
              </a:rPr>
              <a:t>A PROJECT ON</a:t>
            </a:r>
          </a:p>
        </p:txBody>
      </p:sp>
      <p:sp>
        <p:nvSpPr>
          <p:cNvPr id="5" name="TextBox 4"/>
          <p:cNvSpPr txBox="1"/>
          <p:nvPr/>
        </p:nvSpPr>
        <p:spPr>
          <a:xfrm>
            <a:off x="1640840" y="437515"/>
            <a:ext cx="8646160" cy="687070"/>
          </a:xfrm>
          <a:prstGeom prst="rect">
            <a:avLst/>
          </a:prstGeom>
          <a:noFill/>
        </p:spPr>
        <p:txBody>
          <a:bodyPr wrap="square" rtlCol="0">
            <a:noAutofit/>
          </a:bodyPr>
          <a:lstStyle/>
          <a:p>
            <a:pPr algn="ctr"/>
            <a:r>
              <a:rPr lang="en-US" altLang="en-IN" sz="2000" b="1" dirty="0">
                <a:solidFill>
                  <a:srgbClr val="FF0000"/>
                </a:solidFill>
                <a:latin typeface="Times New Roman" panose="02020603050405020304" pitchFamily="18" charset="0"/>
                <a:cs typeface="Times New Roman" panose="02020603050405020304" pitchFamily="18" charset="0"/>
              </a:rPr>
              <a:t>SOLAR POWERED GRID INTEGRATED EV CHARGING MODULE FOR SMART CITY</a:t>
            </a:r>
          </a:p>
          <a:p>
            <a:pPr algn="ctr"/>
            <a:endParaRPr lang="en-US" altLang="en-IN" sz="2000" b="1" dirty="0">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3508514" y="1124585"/>
            <a:ext cx="4572000" cy="3079750"/>
          </a:xfrm>
          <a:prstGeom prst="rect">
            <a:avLst/>
          </a:prstGeom>
          <a:noFill/>
        </p:spPr>
        <p:txBody>
          <a:bodyPr wrap="square" rtlCol="0">
            <a:noAutofit/>
          </a:bodyPr>
          <a:lstStyle/>
          <a:p>
            <a:pPr algn="ctr"/>
            <a:r>
              <a:rPr lang="en-IN" sz="1600" dirty="0">
                <a:latin typeface="Times New Roman" panose="02020603050405020304" pitchFamily="18" charset="0"/>
                <a:cs typeface="Times New Roman" panose="02020603050405020304" pitchFamily="18" charset="0"/>
              </a:rPr>
              <a:t>PRESENTED BY</a:t>
            </a:r>
          </a:p>
          <a:p>
            <a:r>
              <a:rPr lang="en-US" sz="1600" b="1" dirty="0">
                <a:latin typeface="Times New Roman" panose="02020603050405020304" pitchFamily="18" charset="0"/>
                <a:cs typeface="Times New Roman" panose="02020603050405020304" pitchFamily="18" charset="0"/>
              </a:rPr>
              <a:t>C.SRIRAM             	              (229L1A0417)</a:t>
            </a:r>
          </a:p>
          <a:p>
            <a:r>
              <a:rPr lang="en-US" sz="1600" b="1" dirty="0">
                <a:latin typeface="Times New Roman" panose="02020603050405020304" pitchFamily="18" charset="0"/>
                <a:cs typeface="Times New Roman" panose="02020603050405020304" pitchFamily="18" charset="0"/>
              </a:rPr>
              <a:t>B.MANOJ                                (229L1A0407)</a:t>
            </a:r>
          </a:p>
          <a:p>
            <a:r>
              <a:rPr lang="en-US" sz="1600" b="1" dirty="0">
                <a:latin typeface="Times New Roman" panose="02020603050405020304" pitchFamily="18" charset="0"/>
                <a:cs typeface="Times New Roman" panose="02020603050405020304" pitchFamily="18" charset="0"/>
              </a:rPr>
              <a:t>K.VAMSI                                 (229L1A0424)</a:t>
            </a:r>
          </a:p>
          <a:p>
            <a:r>
              <a:rPr lang="en-US" sz="1600" b="1" dirty="0">
                <a:latin typeface="Times New Roman" panose="02020603050405020304" pitchFamily="18" charset="0"/>
                <a:cs typeface="Times New Roman" panose="02020603050405020304" pitchFamily="18" charset="0"/>
              </a:rPr>
              <a:t>N.NARESH                              (229L1A0444)</a:t>
            </a:r>
            <a:endParaRPr lang="en-IN" sz="1600" b="1" dirty="0">
              <a:latin typeface="Times New Roman" panose="02020603050405020304" pitchFamily="18" charset="0"/>
              <a:cs typeface="Times New Roman" panose="02020603050405020304" pitchFamily="18" charset="0"/>
            </a:endParaRPr>
          </a:p>
          <a:p>
            <a:endParaRPr lang="en-US" altLang="en-IN" sz="1600" dirty="0">
              <a:latin typeface="Times New Roman" panose="02020603050405020304" pitchFamily="18" charset="0"/>
              <a:cs typeface="Times New Roman" panose="02020603050405020304" pitchFamily="18" charset="0"/>
            </a:endParaRPr>
          </a:p>
          <a:p>
            <a:r>
              <a:rPr lang="en-US" altLang="en-IN" sz="1600" dirty="0">
                <a:latin typeface="Times New Roman" panose="02020603050405020304" pitchFamily="18" charset="0"/>
                <a:cs typeface="Times New Roman" panose="02020603050405020304" pitchFamily="18" charset="0"/>
              </a:rPr>
              <a:t>               </a:t>
            </a:r>
            <a:r>
              <a:rPr lang="en-IN" altLang="en-US"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U</a:t>
            </a:r>
            <a:r>
              <a:rPr lang="en-IN" altLang="en-US" sz="1600" dirty="0" err="1">
                <a:latin typeface="Times New Roman" panose="02020603050405020304" pitchFamily="18" charset="0"/>
                <a:cs typeface="Times New Roman" panose="02020603050405020304" pitchFamily="18" charset="0"/>
              </a:rPr>
              <a:t>nder</a:t>
            </a:r>
            <a:r>
              <a:rPr lang="en-US" altLang="en-IN" sz="1600" dirty="0">
                <a:latin typeface="Times New Roman" panose="02020603050405020304" pitchFamily="18" charset="0"/>
                <a:cs typeface="Times New Roman" panose="02020603050405020304" pitchFamily="18" charset="0"/>
              </a:rPr>
              <a:t> the G</a:t>
            </a:r>
            <a:r>
              <a:rPr lang="en-IN" altLang="en-US" sz="1600" dirty="0" err="1">
                <a:latin typeface="Times New Roman" panose="02020603050405020304" pitchFamily="18" charset="0"/>
                <a:cs typeface="Times New Roman" panose="02020603050405020304" pitchFamily="18" charset="0"/>
              </a:rPr>
              <a:t>uidance</a:t>
            </a:r>
            <a:endParaRPr lang="en-IN" altLang="en-US" sz="1600" dirty="0">
              <a:latin typeface="Times New Roman" panose="02020603050405020304" pitchFamily="18" charset="0"/>
              <a:cs typeface="Times New Roman" panose="02020603050405020304" pitchFamily="18" charset="0"/>
            </a:endParaRPr>
          </a:p>
          <a:p>
            <a:pPr marL="914400" lvl="2" indent="457200"/>
            <a:r>
              <a:rPr lang="en-US" altLang="en-IN" sz="1600" dirty="0">
                <a:latin typeface="Times New Roman" panose="02020603050405020304" pitchFamily="18" charset="0"/>
                <a:cs typeface="Times New Roman" panose="02020603050405020304" pitchFamily="18" charset="0"/>
              </a:rPr>
              <a:t> </a:t>
            </a:r>
            <a:r>
              <a:rPr lang="en-IN" altLang="en-US" sz="1600" dirty="0">
                <a:latin typeface="Times New Roman" panose="02020603050405020304" pitchFamily="18" charset="0"/>
                <a:cs typeface="Times New Roman" panose="02020603050405020304" pitchFamily="18" charset="0"/>
              </a:rPr>
              <a:t>    </a:t>
            </a:r>
            <a:r>
              <a:rPr lang="en-US" altLang="en-IN" sz="1200" dirty="0">
                <a:latin typeface="Times New Roman" panose="02020603050405020304" pitchFamily="18" charset="0"/>
                <a:cs typeface="Times New Roman" panose="02020603050405020304" pitchFamily="18" charset="0"/>
              </a:rPr>
              <a:t>OF</a:t>
            </a:r>
            <a:endParaRPr lang="en-US" altLang="en-IN" sz="1200" b="1" dirty="0">
              <a:latin typeface="Times New Roman" panose="02020603050405020304" pitchFamily="18" charset="0"/>
              <a:cs typeface="Times New Roman" panose="02020603050405020304" pitchFamily="18" charset="0"/>
            </a:endParaRPr>
          </a:p>
          <a:p>
            <a:r>
              <a:rPr lang="en-US" altLang="en-IN" sz="1600" dirty="0">
                <a:latin typeface="Times New Roman" panose="02020603050405020304" pitchFamily="18" charset="0"/>
                <a:cs typeface="Times New Roman" panose="02020603050405020304" pitchFamily="18" charset="0"/>
              </a:rPr>
              <a:t>            	    </a:t>
            </a:r>
            <a:r>
              <a:rPr lang="en-US" altLang="en-IN" sz="1600" b="1" dirty="0" err="1">
                <a:latin typeface="Times New Roman" panose="02020603050405020304" pitchFamily="18" charset="0"/>
                <a:cs typeface="Times New Roman" panose="02020603050405020304" pitchFamily="18" charset="0"/>
              </a:rPr>
              <a:t>Mr.K.Siva</a:t>
            </a:r>
            <a:r>
              <a:rPr lang="en-US" altLang="en-IN" sz="1600" b="1" dirty="0">
                <a:latin typeface="Times New Roman" panose="02020603050405020304" pitchFamily="18" charset="0"/>
                <a:cs typeface="Times New Roman" panose="02020603050405020304" pitchFamily="18" charset="0"/>
              </a:rPr>
              <a:t> prasad</a:t>
            </a:r>
            <a:r>
              <a:rPr lang="en-IN" altLang="en-US" sz="1600" dirty="0">
                <a:latin typeface="Times New Roman" panose="02020603050405020304" pitchFamily="18" charset="0"/>
                <a:cs typeface="Times New Roman" panose="02020603050405020304" pitchFamily="18" charset="0"/>
              </a:rPr>
              <a:t>			         </a:t>
            </a:r>
            <a:r>
              <a:rPr lang="en-IN" altLang="en-US" sz="1200" b="1" dirty="0" err="1">
                <a:latin typeface="Times New Roman" panose="02020603050405020304" pitchFamily="18" charset="0"/>
                <a:cs typeface="Times New Roman" panose="02020603050405020304" pitchFamily="18" charset="0"/>
              </a:rPr>
              <a:t>M.Tech</a:t>
            </a:r>
            <a:r>
              <a:rPr lang="en-IN" altLang="en-US" sz="1200" b="1" dirty="0">
                <a:latin typeface="Times New Roman" panose="02020603050405020304" pitchFamily="18" charset="0"/>
                <a:cs typeface="Times New Roman" panose="02020603050405020304" pitchFamily="18" charset="0"/>
              </a:rPr>
              <a:t>,(</a:t>
            </a:r>
            <a:r>
              <a:rPr lang="en-IN" altLang="en-US" sz="1200" b="1" dirty="0" err="1">
                <a:latin typeface="Times New Roman" panose="02020603050405020304" pitchFamily="18" charset="0"/>
                <a:cs typeface="Times New Roman" panose="02020603050405020304" pitchFamily="18" charset="0"/>
              </a:rPr>
              <a:t>ph.D</a:t>
            </a:r>
            <a:r>
              <a:rPr lang="en-IN" altLang="en-US" sz="1200" b="1" dirty="0">
                <a:latin typeface="Times New Roman" panose="02020603050405020304" pitchFamily="18" charset="0"/>
                <a:cs typeface="Times New Roman" panose="02020603050405020304" pitchFamily="18" charset="0"/>
              </a:rPr>
              <a:t>)</a:t>
            </a:r>
            <a:r>
              <a:rPr lang="en-IN" altLang="en-US"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Dept of ECE</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US" altLang="en-IN" sz="1600" dirty="0">
                <a:latin typeface="Times New Roman" panose="02020603050405020304" pitchFamily="18" charset="0"/>
                <a:cs typeface="Times New Roman" panose="02020603050405020304" pitchFamily="18" charset="0"/>
              </a:rPr>
              <a:t>                                                       </a:t>
            </a: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52670" y="3855149"/>
            <a:ext cx="1295400" cy="1295400"/>
          </a:xfrm>
          <a:prstGeom prst="rect">
            <a:avLst/>
          </a:prstGeom>
        </p:spPr>
      </p:pic>
      <p:sp>
        <p:nvSpPr>
          <p:cNvPr id="9" name="TextBox 8"/>
          <p:cNvSpPr txBox="1"/>
          <p:nvPr/>
        </p:nvSpPr>
        <p:spPr>
          <a:xfrm>
            <a:off x="1479452" y="5150200"/>
            <a:ext cx="8277683" cy="583565"/>
          </a:xfrm>
          <a:prstGeom prst="rect">
            <a:avLst/>
          </a:prstGeom>
          <a:noFill/>
        </p:spPr>
        <p:txBody>
          <a:bodyPr wrap="square" rtlCol="0">
            <a:spAutoFit/>
          </a:bodyPr>
          <a:lstStyle/>
          <a:p>
            <a:pPr algn="ctr"/>
            <a:r>
              <a:rPr lang="en-US" altLang="en-IN" sz="1400" b="1" dirty="0">
                <a:solidFill>
                  <a:srgbClr val="00B0F0"/>
                </a:solidFill>
                <a:latin typeface="Times New Roman" panose="02020603050405020304" pitchFamily="18" charset="0"/>
                <a:cs typeface="Times New Roman" panose="02020603050405020304" pitchFamily="18" charset="0"/>
              </a:rPr>
              <a:t> DEPT.OF. ELECTRONICS AND COMMUNICATION ENGINEERING</a:t>
            </a:r>
            <a:endParaRPr lang="en-IN" sz="1400" b="1" dirty="0">
              <a:latin typeface="Times New Roman" panose="02020603050405020304" pitchFamily="18" charset="0"/>
              <a:cs typeface="Times New Roman" panose="02020603050405020304" pitchFamily="18" charset="0"/>
            </a:endParaRPr>
          </a:p>
          <a:p>
            <a:r>
              <a:rPr lang="en-IN" b="1" dirty="0">
                <a:solidFill>
                  <a:schemeClr val="accent1">
                    <a:lumMod val="75000"/>
                  </a:schemeClr>
                </a:solidFill>
                <a:latin typeface="Times New Roman" panose="02020603050405020304" pitchFamily="18" charset="0"/>
                <a:cs typeface="Times New Roman" panose="02020603050405020304" pitchFamily="18" charset="0"/>
              </a:rPr>
              <a:t>    SIDDARTHA EDUCATIONAL ACADEMY GROUP OF INSTITUTIONS</a:t>
            </a:r>
          </a:p>
        </p:txBody>
      </p:sp>
      <p:sp>
        <p:nvSpPr>
          <p:cNvPr id="11" name="TextBox 10"/>
          <p:cNvSpPr txBox="1"/>
          <p:nvPr/>
        </p:nvSpPr>
        <p:spPr>
          <a:xfrm>
            <a:off x="1295214" y="5733415"/>
            <a:ext cx="8646160" cy="1014730"/>
          </a:xfrm>
          <a:prstGeom prst="rect">
            <a:avLst/>
          </a:prstGeom>
          <a:noFill/>
        </p:spPr>
        <p:txBody>
          <a:bodyPr wrap="square" rtlCol="0">
            <a:spAutoFit/>
          </a:bodyPr>
          <a:lstStyle/>
          <a:p>
            <a:pPr algn="ctr"/>
            <a:r>
              <a:rPr lang="en-IN" sz="2000" b="1" dirty="0">
                <a:solidFill>
                  <a:srgbClr val="92D050"/>
                </a:solidFill>
                <a:latin typeface="Times New Roman" panose="02020603050405020304" pitchFamily="18" charset="0"/>
                <a:cs typeface="Times New Roman" panose="02020603050405020304" pitchFamily="18" charset="0"/>
              </a:rPr>
              <a:t>        (Approved by AICTE &amp; Affiliated by JNTUA, Anantapur) </a:t>
            </a:r>
          </a:p>
          <a:p>
            <a:pPr algn="ctr"/>
            <a:r>
              <a:rPr lang="en-IN" sz="2000" b="1" dirty="0">
                <a:solidFill>
                  <a:srgbClr val="FF0000"/>
                </a:solidFill>
                <a:latin typeface="Times New Roman" panose="02020603050405020304" pitchFamily="18" charset="0"/>
                <a:cs typeface="Times New Roman" panose="02020603050405020304" pitchFamily="18" charset="0"/>
              </a:rPr>
              <a:t>  C . Gollapalli, Tirupati – 517505</a:t>
            </a:r>
          </a:p>
          <a:p>
            <a:pPr algn="ctr"/>
            <a:r>
              <a:rPr lang="en-IN" sz="2000" b="1" dirty="0">
                <a:latin typeface="Times New Roman" panose="02020603050405020304" pitchFamily="18" charset="0"/>
                <a:cs typeface="Times New Roman" panose="02020603050405020304" pitchFamily="18" charset="0"/>
              </a:rPr>
              <a:t>2025 - 2026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792605" y="1174115"/>
            <a:ext cx="4064000" cy="4955203"/>
          </a:xfrm>
          <a:prstGeom prst="rect">
            <a:avLst/>
          </a:prstGeom>
          <a:noFill/>
        </p:spPr>
        <p:txBody>
          <a:bodyPr wrap="square" rtlCol="0">
            <a:spAutoFit/>
          </a:bodyPr>
          <a:lstStyle/>
          <a:p>
            <a:r>
              <a:rPr lang="en-US" sz="2400" dirty="0"/>
              <a:t> </a:t>
            </a:r>
            <a:r>
              <a:rPr lang="en-US" sz="2800" b="1" dirty="0">
                <a:latin typeface="Times New Roman" panose="02020603050405020304" pitchFamily="18" charset="0"/>
                <a:cs typeface="Times New Roman" panose="02020603050405020304" pitchFamily="18" charset="0"/>
              </a:rPr>
              <a:t>CONTENTS</a:t>
            </a:r>
            <a:r>
              <a:rPr lang="en-US" sz="2400" dirty="0"/>
              <a:t> </a:t>
            </a:r>
          </a:p>
          <a:p>
            <a:endParaRPr lang="en-US" sz="2400" dirty="0"/>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Proposed System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Block diagram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Components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Explanation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Flow chart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Advantages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Applications</a:t>
            </a:r>
          </a:p>
          <a:p>
            <a:pPr marL="342900" indent="-342900">
              <a:buFont typeface="Arial" panose="020B0604020202020204" pitchFamily="34" charset="0"/>
              <a:buChar char="•"/>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25556" y="136207"/>
            <a:ext cx="2574235"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A</a:t>
            </a:r>
            <a:r>
              <a:rPr lang="en-IN" altLang="en-US" sz="2800" b="1" dirty="0">
                <a:latin typeface="Times New Roman" panose="02020603050405020304" pitchFamily="18" charset="0"/>
                <a:cs typeface="Times New Roman" panose="02020603050405020304" pitchFamily="18" charset="0"/>
              </a:rPr>
              <a:t>BSTRACT</a:t>
            </a:r>
          </a:p>
        </p:txBody>
      </p:sp>
      <p:sp>
        <p:nvSpPr>
          <p:cNvPr id="5" name="Content Placeholder 4"/>
          <p:cNvSpPr>
            <a:spLocks noGrp="1"/>
          </p:cNvSpPr>
          <p:nvPr>
            <p:ph idx="1"/>
          </p:nvPr>
        </p:nvSpPr>
        <p:spPr>
          <a:xfrm>
            <a:off x="838200" y="1461770"/>
            <a:ext cx="10515600" cy="471551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 This project develops a solar-plus-grid EV charging module controlled by an Arduino Uno. PV panels supply renewable energy with grid backup for reliability. Sensors track voltage and current, while relays and a charge controller ensure safe charging. An LCD displays system status. The overall system offers an eco-friendly and scalable EV charging solution.</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9167" y="671804"/>
            <a:ext cx="4114800" cy="101473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    EXISTING SYSTEM</a:t>
            </a:r>
            <a:endParaRPr lang="en-US" sz="3200" b="1" dirty="0">
              <a:latin typeface="Times New Roman" panose="02020603050405020304" pitchFamily="18" charset="0"/>
              <a:cs typeface="Times New Roman" panose="02020603050405020304" pitchFamily="18" charset="0"/>
            </a:endParaRPr>
          </a:p>
          <a:p>
            <a:endParaRPr lang="en-US" sz="3200" dirty="0"/>
          </a:p>
        </p:txBody>
      </p:sp>
      <p:sp>
        <p:nvSpPr>
          <p:cNvPr id="3" name="TextBox 2"/>
          <p:cNvSpPr txBox="1"/>
          <p:nvPr/>
        </p:nvSpPr>
        <p:spPr>
          <a:xfrm>
            <a:off x="755780" y="1558212"/>
            <a:ext cx="7828383" cy="460375"/>
          </a:xfrm>
          <a:prstGeom prst="rect">
            <a:avLst/>
          </a:prstGeom>
          <a:noFill/>
        </p:spPr>
        <p:txBody>
          <a:bodyPr wrap="square" rtlCol="0">
            <a:spAutoFit/>
          </a:bodyPr>
          <a:lstStyle/>
          <a:p>
            <a:endParaRPr lang="en-US" sz="2400" dirty="0"/>
          </a:p>
        </p:txBody>
      </p:sp>
      <p:sp>
        <p:nvSpPr>
          <p:cNvPr id="5" name="TextBox 4">
            <a:extLst>
              <a:ext uri="{FF2B5EF4-FFF2-40B4-BE49-F238E27FC236}">
                <a16:creationId xmlns:a16="http://schemas.microsoft.com/office/drawing/2014/main" id="{CBD8AA1E-B76E-84B8-B2B4-7BD8CE02DD5F}"/>
              </a:ext>
            </a:extLst>
          </p:cNvPr>
          <p:cNvSpPr txBox="1"/>
          <p:nvPr/>
        </p:nvSpPr>
        <p:spPr>
          <a:xfrm>
            <a:off x="718660" y="1558212"/>
            <a:ext cx="8053180" cy="3046988"/>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EV charging mainly dependent on grid supply.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Higher load on grid during peak hours.</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Limited integration of renewable energy.</a:t>
            </a: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 Lack of smart control and monitoring systems</a:t>
            </a:r>
            <a:r>
              <a:rPr lang="en-US" sz="18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2824" y="587476"/>
            <a:ext cx="5113176" cy="52197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PROPOSED SYSTEM</a:t>
            </a:r>
          </a:p>
        </p:txBody>
      </p:sp>
      <p:sp>
        <p:nvSpPr>
          <p:cNvPr id="3" name="TextBox 2"/>
          <p:cNvSpPr txBox="1"/>
          <p:nvPr/>
        </p:nvSpPr>
        <p:spPr>
          <a:xfrm>
            <a:off x="765110" y="1625100"/>
            <a:ext cx="7959012" cy="2677656"/>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Solar PV generates renewable energy.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Arduino monitors voltage, current, and battery level.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Smart switching between solar power and grid.</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LCD provides charging and system status.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Charge controller regulates power flow.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35563" y="408275"/>
            <a:ext cx="4376058" cy="881426"/>
          </a:xfrm>
        </p:spPr>
        <p:txBody>
          <a:bodyPr>
            <a:normAutofit/>
          </a:bodyPr>
          <a:lstStyle/>
          <a:p>
            <a:pPr algn="ctr"/>
            <a:r>
              <a:rPr lang="en-IN" altLang="en-US" sz="2800" b="1" dirty="0">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idx="1"/>
          </p:nvPr>
        </p:nvSpPr>
        <p:spPr>
          <a:xfrm>
            <a:off x="735563" y="1657674"/>
            <a:ext cx="10515600" cy="4351338"/>
          </a:xfrm>
        </p:spPr>
        <p:txBody>
          <a:bodyPr/>
          <a:lstStyle/>
          <a:p>
            <a:r>
              <a:rPr lang="en-US" sz="2400" dirty="0">
                <a:latin typeface="Times New Roman" panose="02020603050405020304" pitchFamily="18" charset="0"/>
                <a:cs typeface="Times New Roman" panose="02020603050405020304" pitchFamily="18" charset="0"/>
              </a:rPr>
              <a:t>EV usage is increasing, creating demand for smart charging systems.</a:t>
            </a:r>
          </a:p>
          <a:p>
            <a:r>
              <a:rPr lang="en-US" sz="2400" dirty="0">
                <a:latin typeface="Times New Roman" panose="02020603050405020304" pitchFamily="18" charset="0"/>
                <a:cs typeface="Times New Roman" panose="02020603050405020304" pitchFamily="18" charset="0"/>
              </a:rPr>
              <a:t>Solar-powered charging reduces reliance on the electrical grid.</a:t>
            </a:r>
          </a:p>
          <a:p>
            <a:r>
              <a:rPr lang="en-US" sz="2400" dirty="0">
                <a:latin typeface="Times New Roman" panose="02020603050405020304" pitchFamily="18" charset="0"/>
                <a:cs typeface="Times New Roman" panose="02020603050405020304" pitchFamily="18" charset="0"/>
              </a:rPr>
              <a:t>Dual-energy source design increases system reliability.</a:t>
            </a:r>
          </a:p>
          <a:p>
            <a:r>
              <a:rPr lang="en-US" sz="2400" dirty="0">
                <a:latin typeface="Times New Roman" panose="02020603050405020304" pitchFamily="18" charset="0"/>
                <a:cs typeface="Times New Roman" panose="02020603050405020304" pitchFamily="18" charset="0"/>
              </a:rPr>
              <a:t>Suitable for modern smart city infrastructure development.</a:t>
            </a:r>
          </a:p>
          <a:p>
            <a:pPr marL="0" indent="0" algn="just">
              <a:buNone/>
            </a:pPr>
            <a:endParaRPr lang="en-US" sz="24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Box 21"/>
          <p:cNvSpPr txBox="1"/>
          <p:nvPr/>
        </p:nvSpPr>
        <p:spPr>
          <a:xfrm>
            <a:off x="681627" y="315232"/>
            <a:ext cx="4064000" cy="52197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BLOCK DIAGRAM</a:t>
            </a:r>
          </a:p>
        </p:txBody>
      </p:sp>
      <p:pic>
        <p:nvPicPr>
          <p:cNvPr id="41" name="Picture 40">
            <a:extLst>
              <a:ext uri="{FF2B5EF4-FFF2-40B4-BE49-F238E27FC236}">
                <a16:creationId xmlns:a16="http://schemas.microsoft.com/office/drawing/2014/main" id="{B6DB93BC-93DA-FFC1-6647-C699116EA724}"/>
              </a:ext>
            </a:extLst>
          </p:cNvPr>
          <p:cNvPicPr>
            <a:picLocks noChangeAspect="1"/>
          </p:cNvPicPr>
          <p:nvPr/>
        </p:nvPicPr>
        <p:blipFill>
          <a:blip r:embed="rId2"/>
          <a:stretch>
            <a:fillRect/>
          </a:stretch>
        </p:blipFill>
        <p:spPr>
          <a:xfrm>
            <a:off x="3111749" y="1508593"/>
            <a:ext cx="5968501" cy="38408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Component</a:t>
            </a:r>
            <a:r>
              <a:rPr lang="en-US" b="1" dirty="0"/>
              <a:t>s</a:t>
            </a:r>
          </a:p>
        </p:txBody>
      </p:sp>
      <p:pic>
        <p:nvPicPr>
          <p:cNvPr id="4" name="Content Placeholder 3"/>
          <p:cNvPicPr>
            <a:picLocks noGrp="1" noChangeAspect="1"/>
          </p:cNvPicPr>
          <p:nvPr>
            <p:ph idx="1"/>
          </p:nvPr>
        </p:nvPicPr>
        <p:blipFill>
          <a:blip r:embed="rId2" cstate="print"/>
          <a:stretch>
            <a:fillRect/>
          </a:stretch>
        </p:blipFill>
        <p:spPr>
          <a:xfrm>
            <a:off x="1507490" y="1742440"/>
            <a:ext cx="1714500" cy="1714500"/>
          </a:xfrm>
          <a:prstGeom prst="rect">
            <a:avLst/>
          </a:prstGeom>
        </p:spPr>
      </p:pic>
      <p:pic>
        <p:nvPicPr>
          <p:cNvPr id="6" name="Picture 5"/>
          <p:cNvPicPr>
            <a:picLocks noChangeAspect="1"/>
          </p:cNvPicPr>
          <p:nvPr/>
        </p:nvPicPr>
        <p:blipFill>
          <a:blip r:embed="rId3" cstate="print"/>
          <a:stretch>
            <a:fillRect/>
          </a:stretch>
        </p:blipFill>
        <p:spPr>
          <a:xfrm>
            <a:off x="4717415" y="1635125"/>
            <a:ext cx="2164080" cy="1348740"/>
          </a:xfrm>
          <a:prstGeom prst="rect">
            <a:avLst/>
          </a:prstGeom>
        </p:spPr>
      </p:pic>
      <p:pic>
        <p:nvPicPr>
          <p:cNvPr id="10" name="Picture 9"/>
          <p:cNvPicPr>
            <a:picLocks noChangeAspect="1"/>
          </p:cNvPicPr>
          <p:nvPr/>
        </p:nvPicPr>
        <p:blipFill>
          <a:blip r:embed="rId4" cstate="print"/>
          <a:stretch>
            <a:fillRect/>
          </a:stretch>
        </p:blipFill>
        <p:spPr>
          <a:xfrm>
            <a:off x="8920480" y="3181985"/>
            <a:ext cx="3048000" cy="3048000"/>
          </a:xfrm>
          <a:prstGeom prst="rect">
            <a:avLst/>
          </a:prstGeom>
        </p:spPr>
      </p:pic>
      <p:sp>
        <p:nvSpPr>
          <p:cNvPr id="11" name="Text Box 10"/>
          <p:cNvSpPr txBox="1"/>
          <p:nvPr/>
        </p:nvSpPr>
        <p:spPr>
          <a:xfrm>
            <a:off x="1067435" y="3508375"/>
            <a:ext cx="9042400" cy="319405"/>
          </a:xfrm>
          <a:prstGeom prst="rect">
            <a:avLst/>
          </a:prstGeom>
          <a:noFill/>
        </p:spPr>
        <p:txBody>
          <a:bodyPr wrap="square" rtlCol="0">
            <a:noAutofit/>
          </a:bodyPr>
          <a:lstStyle/>
          <a:p>
            <a:endParaRPr lang="en-US"/>
          </a:p>
        </p:txBody>
      </p:sp>
      <p:pic>
        <p:nvPicPr>
          <p:cNvPr id="12" name="Picture 11"/>
          <p:cNvPicPr>
            <a:picLocks noChangeAspect="1"/>
          </p:cNvPicPr>
          <p:nvPr/>
        </p:nvPicPr>
        <p:blipFill>
          <a:blip r:embed="rId5" cstate="print"/>
          <a:stretch>
            <a:fillRect/>
          </a:stretch>
        </p:blipFill>
        <p:spPr>
          <a:xfrm>
            <a:off x="298174" y="4294187"/>
            <a:ext cx="1714500" cy="1714500"/>
          </a:xfrm>
          <a:prstGeom prst="rect">
            <a:avLst/>
          </a:prstGeom>
        </p:spPr>
      </p:pic>
      <p:sp>
        <p:nvSpPr>
          <p:cNvPr id="13" name="Text Box 12"/>
          <p:cNvSpPr txBox="1"/>
          <p:nvPr/>
        </p:nvSpPr>
        <p:spPr>
          <a:xfrm>
            <a:off x="730885" y="3156585"/>
            <a:ext cx="10841355" cy="528955"/>
          </a:xfrm>
          <a:prstGeom prst="rect">
            <a:avLst/>
          </a:prstGeom>
          <a:noFill/>
        </p:spPr>
        <p:txBody>
          <a:bodyPr wrap="square" rtlCol="0">
            <a:noAutofit/>
          </a:bodyPr>
          <a:lstStyle/>
          <a:p>
            <a:r>
              <a:rPr lang="en-US" dirty="0"/>
              <a:t>     ARDUINO UNO                                                  16*2 LCD                                                         </a:t>
            </a:r>
            <a:r>
              <a:rPr lang="en-US" b="1" dirty="0">
                <a:latin typeface="+mj-lt"/>
                <a:cs typeface="Times New Roman" panose="02020603050405020304" pitchFamily="18" charset="0"/>
              </a:rPr>
              <a:t>Solar panel     </a:t>
            </a:r>
            <a:r>
              <a:rPr lang="en-US" b="1" dirty="0">
                <a:latin typeface="Times New Roman" panose="02020603050405020304" pitchFamily="18" charset="0"/>
                <a:cs typeface="Times New Roman" panose="02020603050405020304" pitchFamily="18" charset="0"/>
              </a:rPr>
              <a:t>                                                               </a:t>
            </a:r>
          </a:p>
        </p:txBody>
      </p:sp>
      <p:sp>
        <p:nvSpPr>
          <p:cNvPr id="14" name="Text Box 13"/>
          <p:cNvSpPr txBox="1"/>
          <p:nvPr/>
        </p:nvSpPr>
        <p:spPr>
          <a:xfrm>
            <a:off x="4620895" y="819785"/>
            <a:ext cx="6529705" cy="492760"/>
          </a:xfrm>
          <a:prstGeom prst="rect">
            <a:avLst/>
          </a:prstGeom>
          <a:noFill/>
        </p:spPr>
        <p:txBody>
          <a:bodyPr wrap="square" rtlCol="0">
            <a:noAutofit/>
          </a:bodyPr>
          <a:lstStyle/>
          <a:p>
            <a:endParaRPr lang="en-US"/>
          </a:p>
        </p:txBody>
      </p:sp>
      <p:sp>
        <p:nvSpPr>
          <p:cNvPr id="16" name="Text Box 15"/>
          <p:cNvSpPr txBox="1"/>
          <p:nvPr/>
        </p:nvSpPr>
        <p:spPr>
          <a:xfrm>
            <a:off x="526774" y="6098650"/>
            <a:ext cx="8060635" cy="503555"/>
          </a:xfrm>
          <a:prstGeom prst="rect">
            <a:avLst/>
          </a:prstGeom>
          <a:noFill/>
        </p:spPr>
        <p:txBody>
          <a:bodyPr wrap="square" rtlCol="0">
            <a:noAutofit/>
          </a:bodyPr>
          <a:lstStyle/>
          <a:p>
            <a:r>
              <a:rPr lang="en-US" dirty="0"/>
              <a:t>RELAY                            DHT11                            Current sensor        Voltage sensor</a:t>
            </a:r>
          </a:p>
          <a:p>
            <a:endParaRPr lang="en-US" dirty="0"/>
          </a:p>
        </p:txBody>
      </p:sp>
      <p:sp>
        <p:nvSpPr>
          <p:cNvPr id="17" name="Text Box 16"/>
          <p:cNvSpPr txBox="1"/>
          <p:nvPr/>
        </p:nvSpPr>
        <p:spPr>
          <a:xfrm>
            <a:off x="9304020" y="6321425"/>
            <a:ext cx="4064000" cy="368300"/>
          </a:xfrm>
          <a:prstGeom prst="rect">
            <a:avLst/>
          </a:prstGeom>
          <a:noFill/>
        </p:spPr>
        <p:txBody>
          <a:bodyPr wrap="square" rtlCol="0">
            <a:spAutoFit/>
          </a:bodyPr>
          <a:lstStyle/>
          <a:p>
            <a:r>
              <a:rPr lang="en-US"/>
              <a:t>BUZZER</a:t>
            </a:r>
          </a:p>
        </p:txBody>
      </p:sp>
      <p:pic>
        <p:nvPicPr>
          <p:cNvPr id="1026" name="Picture 2" descr="12V Solar Panel 10W">
            <a:extLst>
              <a:ext uri="{FF2B5EF4-FFF2-40B4-BE49-F238E27FC236}">
                <a16:creationId xmlns:a16="http://schemas.microsoft.com/office/drawing/2014/main" id="{4961434A-7500-C5D4-088F-0F92D6EE51AE}"/>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660862" y="1178657"/>
            <a:ext cx="2003328" cy="20033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robots DHT11 Humidity and Temperature Sensor Module for Arduino Buy Online  India">
            <a:extLst>
              <a:ext uri="{FF2B5EF4-FFF2-40B4-BE49-F238E27FC236}">
                <a16:creationId xmlns:a16="http://schemas.microsoft.com/office/drawing/2014/main" id="{D57344A5-6D8A-C6A2-2CBC-676A8FD6BD2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31465" y="4317600"/>
            <a:ext cx="1781050" cy="17810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CS712 Current Sensor: Features, How it ...">
            <a:extLst>
              <a:ext uri="{FF2B5EF4-FFF2-40B4-BE49-F238E27FC236}">
                <a16:creationId xmlns:a16="http://schemas.microsoft.com/office/drawing/2014/main" id="{05511B98-356C-48F6-48C8-93340DF923B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9839" y="4398010"/>
            <a:ext cx="2080544" cy="15584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Buy DC Voltage Sensor Module by ADIY">
            <a:extLst>
              <a:ext uri="{FF2B5EF4-FFF2-40B4-BE49-F238E27FC236}">
                <a16:creationId xmlns:a16="http://schemas.microsoft.com/office/drawing/2014/main" id="{40524AB9-4088-3B31-987C-947E9D87D36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7707" y="4112481"/>
            <a:ext cx="1974408" cy="19744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72886" y="365125"/>
            <a:ext cx="10515600" cy="953770"/>
          </a:xfrm>
        </p:spPr>
        <p:txBody>
          <a:bodyPr/>
          <a:lstStyle/>
          <a:p>
            <a:r>
              <a:rPr lang="en-IN" altLang="en-US" sz="2800" b="1" dirty="0">
                <a:latin typeface="Times New Roman" panose="02020603050405020304" pitchFamily="18" charset="0"/>
                <a:cs typeface="Times New Roman" panose="02020603050405020304" pitchFamily="18" charset="0"/>
              </a:rPr>
              <a:t>SPECIFICATIONS</a:t>
            </a:r>
          </a:p>
        </p:txBody>
      </p:sp>
      <p:sp>
        <p:nvSpPr>
          <p:cNvPr id="7" name="Content Placeholder 6"/>
          <p:cNvSpPr>
            <a:spLocks noGrp="1"/>
          </p:cNvSpPr>
          <p:nvPr>
            <p:ph idx="1"/>
          </p:nvPr>
        </p:nvSpPr>
        <p:spPr>
          <a:xfrm>
            <a:off x="772886" y="1073426"/>
            <a:ext cx="10515600" cy="5419449"/>
          </a:xfrm>
        </p:spPr>
        <p:txBody>
          <a:bodyPr>
            <a:normAutofit lnSpcReduction="10000"/>
          </a:bodyPr>
          <a:lstStyle/>
          <a:p>
            <a:pPr marL="0" indent="0">
              <a:buNone/>
            </a:pPr>
            <a:r>
              <a:rPr lang="en-US" sz="2400" b="1" dirty="0"/>
              <a:t>Hardware requirements:</a:t>
            </a:r>
          </a:p>
          <a:p>
            <a:pPr>
              <a:buFont typeface="Arial" panose="020B0604020202020204" pitchFamily="34" charset="0"/>
              <a:buChar char="•"/>
            </a:pPr>
            <a:r>
              <a:rPr lang="en-US" sz="2400" dirty="0"/>
              <a:t>Arduino uno</a:t>
            </a:r>
          </a:p>
          <a:p>
            <a:pPr>
              <a:buFont typeface="Arial" panose="020B0604020202020204" pitchFamily="34" charset="0"/>
              <a:buChar char="•"/>
            </a:pPr>
            <a:r>
              <a:rPr lang="en-US" sz="2400" dirty="0"/>
              <a:t>16*2 LCD</a:t>
            </a:r>
          </a:p>
          <a:p>
            <a:pPr>
              <a:buFont typeface="Arial" panose="020B0604020202020204" pitchFamily="34" charset="0"/>
              <a:buChar char="•"/>
            </a:pPr>
            <a:r>
              <a:rPr lang="en-US" sz="2400" dirty="0"/>
              <a:t>Solar panel</a:t>
            </a:r>
          </a:p>
          <a:p>
            <a:r>
              <a:rPr lang="en-IN" sz="2400" dirty="0"/>
              <a:t>Grid Power Supply</a:t>
            </a:r>
            <a:endParaRPr lang="en-US" sz="2400" dirty="0"/>
          </a:p>
          <a:p>
            <a:pPr>
              <a:buFont typeface="Arial" panose="020B0604020202020204" pitchFamily="34" charset="0"/>
              <a:buChar char="•"/>
            </a:pPr>
            <a:r>
              <a:rPr lang="en-US" sz="2400" dirty="0"/>
              <a:t>Buzzer</a:t>
            </a:r>
          </a:p>
          <a:p>
            <a:pPr>
              <a:buFont typeface="Arial" panose="020B0604020202020204" pitchFamily="34" charset="0"/>
              <a:buChar char="•"/>
            </a:pPr>
            <a:r>
              <a:rPr lang="en-US" sz="2400" dirty="0"/>
              <a:t>Relay</a:t>
            </a:r>
          </a:p>
          <a:p>
            <a:r>
              <a:rPr lang="en-IN" sz="2400" dirty="0"/>
              <a:t>Grid Power Supply</a:t>
            </a:r>
          </a:p>
          <a:p>
            <a:r>
              <a:rPr lang="en-IN" sz="2400" dirty="0"/>
              <a:t>Voltage &amp; current Sensor</a:t>
            </a:r>
            <a:endParaRPr lang="en-US" sz="2000" dirty="0"/>
          </a:p>
          <a:p>
            <a:pPr marL="0" indent="0">
              <a:buFont typeface="Arial" panose="020B0604020202020204" pitchFamily="34" charset="0"/>
              <a:buNone/>
            </a:pPr>
            <a:r>
              <a:rPr lang="en-US" sz="2400" b="1" dirty="0"/>
              <a:t>Software requirements:</a:t>
            </a:r>
          </a:p>
          <a:p>
            <a:pPr>
              <a:buFont typeface="Arial" panose="020B0604020202020204" pitchFamily="34" charset="0"/>
              <a:buChar char="•"/>
            </a:pPr>
            <a:r>
              <a:rPr lang="en-US" sz="2400" dirty="0" err="1"/>
              <a:t>Arduino</a:t>
            </a:r>
            <a:r>
              <a:rPr lang="en-US" sz="2400" dirty="0"/>
              <a:t> IDE</a:t>
            </a:r>
          </a:p>
          <a:p>
            <a:pPr>
              <a:buFont typeface="Arial" panose="020B0604020202020204" pitchFamily="34" charset="0"/>
              <a:buChar char="•"/>
            </a:pPr>
            <a:r>
              <a:rPr lang="en-US" sz="2400" dirty="0"/>
              <a:t>Proteus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17720" y="431074"/>
            <a:ext cx="3932237" cy="627017"/>
          </a:xfrm>
        </p:spPr>
        <p:txBody>
          <a:bodyPr/>
          <a:lstStyle/>
          <a:p>
            <a:r>
              <a:rPr lang="en-IN" altLang="en-US" sz="2800" b="1" dirty="0">
                <a:latin typeface="Times New Roman" panose="02020603050405020304" pitchFamily="18" charset="0"/>
                <a:cs typeface="Times New Roman" panose="02020603050405020304" pitchFamily="18" charset="0"/>
              </a:rPr>
              <a:t>HARDWARE USED</a:t>
            </a:r>
          </a:p>
        </p:txBody>
      </p:sp>
      <p:sp>
        <p:nvSpPr>
          <p:cNvPr id="3" name="Content Placeholder 2"/>
          <p:cNvSpPr>
            <a:spLocks noGrp="1"/>
          </p:cNvSpPr>
          <p:nvPr>
            <p:ph type="body" sz="half" idx="2"/>
          </p:nvPr>
        </p:nvSpPr>
        <p:spPr>
          <a:xfrm>
            <a:off x="640080" y="1057275"/>
            <a:ext cx="5710555" cy="5278120"/>
          </a:xfrm>
        </p:spPr>
        <p:txBody>
          <a:bodyPr>
            <a:noAutofit/>
          </a:bodyPr>
          <a:lstStyle/>
          <a:p>
            <a:pPr algn="just">
              <a:lnSpc>
                <a:spcPct val="100000"/>
              </a:lnSpc>
            </a:pPr>
            <a:r>
              <a:rPr lang="en-US" sz="2400" b="1" dirty="0">
                <a:latin typeface="Times New Roman" panose="02020603050405020304" pitchFamily="18" charset="0"/>
                <a:cs typeface="Times New Roman" panose="02020603050405020304" pitchFamily="18" charset="0"/>
              </a:rPr>
              <a:t>Arduino</a:t>
            </a:r>
            <a:r>
              <a:rPr lang="en-US" sz="2400" dirty="0">
                <a:latin typeface="Times New Roman" panose="02020603050405020304" pitchFamily="18" charset="0"/>
                <a:cs typeface="Times New Roman" panose="02020603050405020304" pitchFamily="18" charset="0"/>
              </a:rPr>
              <a:t> is an open-source electronics platform used to build simple and complex electronic projects. It consists of a programmable microcontroller board and an easy-to-use software (Arduino IDE) to write and upload code. Arduino can read inputs from sensors (like temperature, voltage, or motion) and control outputs such as LEDs, relays, motors, and displays, making it ideal for beginners, students, and hobbyists.</a:t>
            </a:r>
          </a:p>
        </p:txBody>
      </p:sp>
      <p:pic>
        <p:nvPicPr>
          <p:cNvPr id="15" name="Picture Placeholder 14" descr="552046267dae3a1dce1593af7e20a838.jpg"/>
          <p:cNvPicPr>
            <a:picLocks noGrp="1" noChangeAspect="1"/>
          </p:cNvPicPr>
          <p:nvPr>
            <p:ph type="pic" idx="1"/>
          </p:nvPr>
        </p:nvPicPr>
        <p:blipFill>
          <a:blip r:embed="rId2" cstate="print"/>
          <a:srcRect t="3645" b="3645"/>
          <a:stretch>
            <a:fillRect/>
          </a:stretch>
        </p:blipFill>
        <p:spPr>
          <a:xfrm>
            <a:off x="7000240" y="1235710"/>
            <a:ext cx="5191760" cy="468185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12074" y="636104"/>
            <a:ext cx="10515600" cy="5645426"/>
          </a:xfrm>
        </p:spPr>
        <p:txBody>
          <a:bodyPr>
            <a:normAutofit/>
          </a:bodyPr>
          <a:lstStyle/>
          <a:p>
            <a:pPr algn="just">
              <a:lnSpc>
                <a:spcPct val="110000"/>
              </a:lnSpc>
            </a:pPr>
            <a:r>
              <a:rPr lang="en-US" sz="2400" dirty="0"/>
              <a:t> </a:t>
            </a:r>
            <a:r>
              <a:rPr lang="en-US" sz="2400" b="1" dirty="0">
                <a:latin typeface="Times New Roman" panose="02020603050405020304" pitchFamily="18" charset="0"/>
                <a:cs typeface="Times New Roman" panose="02020603050405020304" pitchFamily="18" charset="0"/>
              </a:rPr>
              <a:t>Solar panel:</a:t>
            </a:r>
          </a:p>
          <a:p>
            <a:pPr marL="0" indent="0" algn="just">
              <a:lnSpc>
                <a:spcPct val="110000"/>
              </a:lnSpc>
              <a:buNone/>
            </a:pPr>
            <a:r>
              <a:rPr lang="en-US" sz="2400" dirty="0">
                <a:latin typeface="Times New Roman" panose="02020603050405020304" pitchFamily="18" charset="0"/>
                <a:cs typeface="Times New Roman" panose="02020603050405020304" pitchFamily="18" charset="0"/>
              </a:rPr>
              <a:t>The solar panel converts sunlight into electrical energy and supplies renewable power for charging the electric vehicle, reducing dependence on conventional energy sources.</a:t>
            </a:r>
            <a:endParaRPr lang="en-US" dirty="0">
              <a:latin typeface="Times New Roman" panose="02020603050405020304" pitchFamily="18" charset="0"/>
              <a:cs typeface="Times New Roman" panose="02020603050405020304" pitchFamily="18" charset="0"/>
            </a:endParaRPr>
          </a:p>
          <a:p>
            <a:pPr algn="just">
              <a:lnSpc>
                <a:spcPct val="100000"/>
              </a:lnSpc>
            </a:pPr>
            <a:r>
              <a:rPr lang="en-US" sz="2200" b="1" dirty="0">
                <a:latin typeface="Times New Roman" panose="02020603050405020304" pitchFamily="18" charset="0"/>
                <a:cs typeface="Times New Roman" panose="02020603050405020304" pitchFamily="18" charset="0"/>
              </a:rPr>
              <a:t>Buzzer:</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It is an audio signaling device which may be electro-</a:t>
            </a:r>
            <a:r>
              <a:rPr lang="en-US" sz="2200" dirty="0" err="1">
                <a:latin typeface="Times New Roman" panose="02020603050405020304" pitchFamily="18" charset="0"/>
                <a:cs typeface="Times New Roman" panose="02020603050405020304" pitchFamily="18" charset="0"/>
              </a:rPr>
              <a:t>mechanical,mechanical</a:t>
            </a:r>
            <a:r>
              <a:rPr lang="en-US" sz="2200" dirty="0">
                <a:latin typeface="Times New Roman" panose="02020603050405020304" pitchFamily="18" charset="0"/>
                <a:cs typeface="Times New Roman" panose="02020603050405020304" pitchFamily="18" charset="0"/>
              </a:rPr>
              <a:t> or piezoelectric.</a:t>
            </a:r>
          </a:p>
          <a:p>
            <a:pPr marL="0" indent="0" algn="just">
              <a:lnSpc>
                <a:spcPct val="100000"/>
              </a:lnSpc>
              <a:buNone/>
            </a:pPr>
            <a:r>
              <a:rPr lang="en-US" sz="2200" dirty="0">
                <a:latin typeface="Times New Roman" panose="02020603050405020304" pitchFamily="18" charset="0"/>
                <a:cs typeface="Times New Roman" panose="02020603050405020304" pitchFamily="18" charset="0"/>
              </a:rPr>
              <a:t>The buzzer starts ringing to provide an alarm indicating the presence of an unauthorized person.</a:t>
            </a:r>
          </a:p>
          <a:p>
            <a:pPr marL="0" indent="0" algn="just">
              <a:lnSpc>
                <a:spcPct val="110000"/>
              </a:lnSpc>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67022" y="915580"/>
            <a:ext cx="11127740" cy="4565352"/>
          </a:xfrm>
          <a:prstGeom prst="rect">
            <a:avLst/>
          </a:prstGeom>
          <a:noFill/>
        </p:spPr>
        <p:txBody>
          <a:bodyPr wrap="square" rtlCol="0">
            <a:spAutoFit/>
          </a:bodyPr>
          <a:lstStyle/>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Relay :</a:t>
            </a:r>
          </a:p>
          <a:p>
            <a:pPr indent="0" algn="just">
              <a:spcBef>
                <a:spcPts val="1000"/>
              </a:spcBef>
              <a:buFont typeface="Arial" panose="020B0604020202020204" pitchFamily="34" charset="0"/>
              <a:buNone/>
            </a:pPr>
            <a:r>
              <a:rPr lang="en-US"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 is an electrically operated switch .</a:t>
            </a:r>
          </a:p>
          <a:p>
            <a:pPr indent="0" algn="just">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It consists of a set of input terminals for a single or multiple control signals and a set of operating contact</a:t>
            </a:r>
          </a:p>
          <a:p>
            <a:pPr indent="0" algn="just">
              <a:buFont typeface="Arial" panose="020B0604020202020204" pitchFamily="34" charset="0"/>
              <a:buNone/>
            </a:pPr>
            <a:r>
              <a:rPr lang="en-US" dirty="0">
                <a:latin typeface="Times New Roman" panose="02020603050405020304" pitchFamily="18" charset="0"/>
                <a:cs typeface="Times New Roman" panose="02020603050405020304" pitchFamily="18" charset="0"/>
              </a:rPr>
              <a:t>Solid </a:t>
            </a:r>
          </a:p>
          <a:p>
            <a:pPr indent="0" algn="just">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LCD :</a:t>
            </a:r>
          </a:p>
          <a:p>
            <a:pPr indent="0" algn="just">
              <a:spcBef>
                <a:spcPts val="1000"/>
              </a:spcBef>
              <a:buFont typeface="Arial" panose="020B0604020202020204" pitchFamily="34" charset="0"/>
              <a:buNone/>
            </a:pPr>
            <a:r>
              <a:rPr lang="en-US" sz="2000" dirty="0">
                <a:latin typeface="Times New Roman" panose="02020603050405020304" pitchFamily="18" charset="0"/>
                <a:cs typeface="Times New Roman" panose="02020603050405020304" pitchFamily="18" charset="0"/>
              </a:rPr>
              <a:t>The 16*2 LCD display is a very basic module commonly used in  circuits .</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Grid power supply:</a:t>
            </a:r>
          </a:p>
          <a:p>
            <a:pPr algn="just"/>
            <a:br>
              <a:rPr lang="en-US" sz="2400" dirty="0"/>
            </a:br>
            <a:r>
              <a:rPr lang="en-US" sz="2400" dirty="0">
                <a:latin typeface="Times New Roman" panose="02020603050405020304" pitchFamily="18" charset="0"/>
                <a:cs typeface="Times New Roman" panose="02020603050405020304" pitchFamily="18" charset="0"/>
              </a:rPr>
              <a:t>The grid power supply provides backup electrical energy when solar power is insufficient, ensuring uninterrupted charging of the EV.</a:t>
            </a:r>
            <a:endParaRPr lang="en-US" dirty="0">
              <a:latin typeface="Times New Roman" panose="02020603050405020304" pitchFamily="18" charset="0"/>
              <a:cs typeface="Times New Roman" panose="02020603050405020304" pitchFamily="18" charset="0"/>
            </a:endParaRPr>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600" y="301625"/>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SOFTWARE USED </a:t>
            </a:r>
            <a:r>
              <a:rPr lang="en-US" sz="2400" b="1" dirty="0">
                <a:latin typeface="Times New Roman" panose="02020603050405020304" pitchFamily="18" charset="0"/>
                <a:cs typeface="Times New Roman" panose="02020603050405020304" pitchFamily="18" charset="0"/>
              </a:rPr>
              <a:t>:</a:t>
            </a:r>
          </a:p>
        </p:txBody>
      </p:sp>
      <p:sp>
        <p:nvSpPr>
          <p:cNvPr id="7" name="Content Placeholder 2"/>
          <p:cNvSpPr>
            <a:spLocks noGrp="1"/>
          </p:cNvSpPr>
          <p:nvPr>
            <p:ph idx="1"/>
          </p:nvPr>
        </p:nvSpPr>
        <p:spPr>
          <a:xfrm>
            <a:off x="520700" y="1447800"/>
            <a:ext cx="11303000" cy="5118100"/>
          </a:xfrm>
        </p:spPr>
        <p:txBody>
          <a:bodyPr>
            <a:normAutofit fontScale="92500"/>
          </a:bodyPr>
          <a:lstStyle/>
          <a:p>
            <a:pPr algn="just">
              <a:lnSpc>
                <a:spcPct val="120000"/>
              </a:lnSpc>
              <a:buNone/>
            </a:pPr>
            <a:r>
              <a:rPr lang="en-US" sz="20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Arduino IDE : </a:t>
            </a:r>
            <a:r>
              <a:rPr lang="en-US" dirty="0"/>
              <a:t>Arduino IDE (Integrated Development Environment) is a software used to write, compile, and upload programs to Arduino boards like Arduino Uno.  It supports Embedded C/C++ programming and provides tools like Serial Monitor for testing and debugging the code. </a:t>
            </a:r>
            <a:endParaRPr lang="en-US" b="1" dirty="0">
              <a:latin typeface="Times New Roman" panose="02020603050405020304" pitchFamily="18" charset="0"/>
              <a:cs typeface="Times New Roman" panose="02020603050405020304" pitchFamily="18" charset="0"/>
            </a:endParaRPr>
          </a:p>
          <a:p>
            <a:pPr algn="just">
              <a:lnSpc>
                <a:spcPct val="120000"/>
              </a:lnSpc>
              <a:buNone/>
            </a:pPr>
            <a:r>
              <a:rPr lang="en-US" sz="29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Proteus :</a:t>
            </a:r>
            <a:r>
              <a:rPr lang="en-US" sz="3000" dirty="0"/>
              <a:t>Proteus is a simulation software used to design and test electronic circuits virtually before implementing them in hardware . It allows simulation of microcontrollers like Arduino along with sensors and other components, helping to detect errors before real-time implementation.</a:t>
            </a:r>
            <a:endParaRPr lang="en-US" sz="3000" b="1" dirty="0">
              <a:latin typeface="Times New Roman" panose="02020603050405020304" pitchFamily="18" charset="0"/>
              <a:cs typeface="Times New Roman" panose="02020603050405020304" pitchFamily="18" charset="0"/>
            </a:endParaRPr>
          </a:p>
          <a:p>
            <a:pPr algn="just">
              <a:lnSpc>
                <a:spcPct val="120000"/>
              </a:lnSpc>
              <a:buNone/>
            </a:pPr>
            <a:r>
              <a:rPr lang="en-US" sz="3000" b="1"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975884" y="651560"/>
            <a:ext cx="4668520" cy="954107"/>
          </a:xfrm>
          <a:prstGeom prst="rect">
            <a:avLst/>
          </a:prstGeom>
          <a:noFill/>
        </p:spPr>
        <p:txBody>
          <a:bodyPr wrap="square" rtlCol="0">
            <a:spAutoFit/>
          </a:bodyPr>
          <a:lstStyle/>
          <a:p>
            <a:pPr marL="1371600" lvl="3" indent="457200"/>
            <a:r>
              <a:rPr lang="en-IN" altLang="en-US" sz="2800" b="1" dirty="0">
                <a:latin typeface="Times New Roman" panose="02020603050405020304" pitchFamily="18" charset="0"/>
                <a:cs typeface="Times New Roman" panose="02020603050405020304" pitchFamily="18" charset="0"/>
              </a:rPr>
              <a:t>FLOW CHART</a:t>
            </a:r>
            <a:r>
              <a:rPr lang="en-US" sz="2800" b="1"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a:t>
            </a:r>
            <a:r>
              <a:rPr lang="en-US" dirty="0"/>
              <a:t>                          </a:t>
            </a:r>
          </a:p>
        </p:txBody>
      </p:sp>
      <p:sp>
        <p:nvSpPr>
          <p:cNvPr id="8" name="Text Box 7"/>
          <p:cNvSpPr txBox="1"/>
          <p:nvPr/>
        </p:nvSpPr>
        <p:spPr>
          <a:xfrm>
            <a:off x="1769292" y="1583055"/>
            <a:ext cx="8213725" cy="4985980"/>
          </a:xfrm>
          <a:prstGeom prst="rect">
            <a:avLst/>
          </a:prstGeom>
          <a:noFill/>
        </p:spPr>
        <p:txBody>
          <a:bodyPr wrap="square" rtlCol="0">
            <a:spAutoFit/>
          </a:bodyPr>
          <a:lstStyle/>
          <a:p>
            <a:r>
              <a:rPr lang="en-US" dirty="0"/>
              <a:t>                                                                   </a:t>
            </a:r>
          </a:p>
          <a:p>
            <a:pPr algn="ctr"/>
            <a:r>
              <a:rPr lang="en-US" sz="2000" dirty="0">
                <a:latin typeface="Times New Roman" panose="02020603050405020304" pitchFamily="18" charset="0"/>
                <a:cs typeface="Times New Roman" panose="02020603050405020304" pitchFamily="18" charset="0"/>
              </a:rPr>
              <a:t> Start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Solar check</a:t>
            </a:r>
          </a:p>
          <a:p>
            <a:pPr algn="ctr"/>
            <a:r>
              <a:rPr lang="en-US" sz="2000" dirty="0">
                <a:latin typeface="Times New Roman" panose="02020603050405020304" pitchFamily="18" charset="0"/>
                <a:cs typeface="Times New Roman" panose="02020603050405020304" pitchFamily="18" charset="0"/>
              </a:rPr>
              <a:t>  ↓</a:t>
            </a:r>
          </a:p>
          <a:p>
            <a:pPr algn="ctr"/>
            <a:r>
              <a:rPr lang="en-US" sz="2000" dirty="0">
                <a:latin typeface="Times New Roman" panose="02020603050405020304" pitchFamily="18" charset="0"/>
                <a:cs typeface="Times New Roman" panose="02020603050405020304" pitchFamily="18" charset="0"/>
              </a:rPr>
              <a:t>Mode select</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 Detect EV</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Charging ON</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Monitor-Display</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Charging done</a:t>
            </a:r>
          </a:p>
          <a:p>
            <a:pPr algn="ctr"/>
            <a:r>
              <a:rPr lang="en-US" sz="2000" dirty="0">
                <a:latin typeface="Times New Roman" panose="02020603050405020304" pitchFamily="18" charset="0"/>
                <a:cs typeface="Times New Roman" panose="02020603050405020304" pitchFamily="18" charset="0"/>
              </a:rPr>
              <a:t>↓</a:t>
            </a:r>
          </a:p>
          <a:p>
            <a:pPr algn="ctr"/>
            <a:r>
              <a:rPr lang="en-US" sz="2000" dirty="0">
                <a:latin typeface="Times New Roman" panose="02020603050405020304" pitchFamily="18" charset="0"/>
                <a:cs typeface="Times New Roman" panose="02020603050405020304" pitchFamily="18" charset="0"/>
              </a:rPr>
              <a:t>Stop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19400" y="504273"/>
            <a:ext cx="10515600" cy="979805"/>
          </a:xfrm>
        </p:spPr>
        <p:txBody>
          <a:bodyPr/>
          <a:lstStyle/>
          <a:p>
            <a:r>
              <a:rPr lang="en-US" sz="24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ADVANTAGES</a:t>
            </a:r>
          </a:p>
        </p:txBody>
      </p:sp>
      <p:sp>
        <p:nvSpPr>
          <p:cNvPr id="5" name="Content Placeholder 4"/>
          <p:cNvSpPr>
            <a:spLocks noGrp="1"/>
          </p:cNvSpPr>
          <p:nvPr>
            <p:ph idx="1"/>
          </p:nvPr>
        </p:nvSpPr>
        <p:spPr>
          <a:xfrm>
            <a:off x="838200" y="1328668"/>
            <a:ext cx="10515600" cy="5121828"/>
          </a:xfrm>
        </p:spPr>
        <p:txBody>
          <a:bodyPr/>
          <a:lstStyle/>
          <a:p>
            <a:r>
              <a:rPr lang="en-US" dirty="0">
                <a:latin typeface="Times New Roman" panose="02020603050405020304" pitchFamily="18" charset="0"/>
                <a:cs typeface="Times New Roman" panose="02020603050405020304" pitchFamily="18" charset="0"/>
              </a:rPr>
              <a:t>Renewable, clean energy charging.</a:t>
            </a:r>
          </a:p>
          <a:p>
            <a:r>
              <a:rPr lang="en-US" dirty="0">
                <a:latin typeface="Times New Roman" panose="02020603050405020304" pitchFamily="18" charset="0"/>
                <a:cs typeface="Times New Roman" panose="02020603050405020304" pitchFamily="18" charset="0"/>
              </a:rPr>
              <a:t> Reduces grid load and electricity cost.</a:t>
            </a:r>
          </a:p>
          <a:p>
            <a:r>
              <a:rPr lang="en-US" dirty="0">
                <a:latin typeface="Times New Roman" panose="02020603050405020304" pitchFamily="18" charset="0"/>
                <a:cs typeface="Times New Roman" panose="02020603050405020304" pitchFamily="18" charset="0"/>
              </a:rPr>
              <a:t> Provides uninterrupted dual-mode charging.</a:t>
            </a:r>
          </a:p>
          <a:p>
            <a:r>
              <a:rPr lang="en-US" dirty="0">
                <a:latin typeface="Times New Roman" panose="02020603050405020304" pitchFamily="18" charset="0"/>
                <a:cs typeface="Times New Roman" panose="02020603050405020304" pitchFamily="18" charset="0"/>
              </a:rPr>
              <a:t> Scalable and suitable for smart city infrastructure.</a:t>
            </a:r>
          </a:p>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89452" y="584558"/>
            <a:ext cx="4064000" cy="521970"/>
          </a:xfrm>
          <a:prstGeom prst="rect">
            <a:avLst/>
          </a:prstGeom>
          <a:noFill/>
        </p:spPr>
        <p:txBody>
          <a:bodyPr wrap="square" rtlCol="0">
            <a:spAutoFit/>
          </a:bodyPr>
          <a:lstStyle/>
          <a:p>
            <a:pPr algn="ctr"/>
            <a:r>
              <a:rPr lang="en-IN" altLang="en-US" sz="2800" b="1" dirty="0">
                <a:latin typeface="Times New Roman" panose="02020603050405020304" pitchFamily="18" charset="0"/>
                <a:cs typeface="Times New Roman" panose="02020603050405020304" pitchFamily="18" charset="0"/>
              </a:rPr>
              <a:t>RESULTS</a:t>
            </a:r>
          </a:p>
        </p:txBody>
      </p:sp>
      <p:sp>
        <p:nvSpPr>
          <p:cNvPr id="3" name="TextBox 2">
            <a:extLst>
              <a:ext uri="{FF2B5EF4-FFF2-40B4-BE49-F238E27FC236}">
                <a16:creationId xmlns:a16="http://schemas.microsoft.com/office/drawing/2014/main" id="{4BE67E6E-08F9-F7E8-5B7C-344C7DFDEC39}"/>
              </a:ext>
            </a:extLst>
          </p:cNvPr>
          <p:cNvSpPr txBox="1"/>
          <p:nvPr/>
        </p:nvSpPr>
        <p:spPr>
          <a:xfrm>
            <a:off x="1508263" y="1430490"/>
            <a:ext cx="7715249" cy="1569660"/>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system successfully charges an EV using solar power with automatic grid backup. It monitors voltage and current accurately and displays charging status. This project reduces grid dependency and ensures reliable charging.</a:t>
            </a:r>
            <a:endParaRPr lang="en-IN"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38BADD6-E1EC-6474-36B4-C5AD98A2EFEB}"/>
              </a:ext>
            </a:extLst>
          </p:cNvPr>
          <p:cNvGraphicFramePr>
            <a:graphicFrameLocks noGrp="1"/>
          </p:cNvGraphicFramePr>
          <p:nvPr>
            <p:extLst>
              <p:ext uri="{D42A27DB-BD31-4B8C-83A1-F6EECF244321}">
                <p14:modId xmlns:p14="http://schemas.microsoft.com/office/powerpoint/2010/main" val="3841809939"/>
              </p:ext>
            </p:extLst>
          </p:nvPr>
        </p:nvGraphicFramePr>
        <p:xfrm>
          <a:off x="1259785" y="3488518"/>
          <a:ext cx="8185426" cy="2789940"/>
        </p:xfrm>
        <a:graphic>
          <a:graphicData uri="http://schemas.openxmlformats.org/drawingml/2006/table">
            <a:tbl>
              <a:tblPr firstRow="1" bandRow="1">
                <a:tableStyleId>{073A0DAA-6AF3-43AB-8588-CEC1D06C72B9}</a:tableStyleId>
              </a:tblPr>
              <a:tblGrid>
                <a:gridCol w="4092713">
                  <a:extLst>
                    <a:ext uri="{9D8B030D-6E8A-4147-A177-3AD203B41FA5}">
                      <a16:colId xmlns:a16="http://schemas.microsoft.com/office/drawing/2014/main" val="1888173657"/>
                    </a:ext>
                  </a:extLst>
                </a:gridCol>
                <a:gridCol w="4092713">
                  <a:extLst>
                    <a:ext uri="{9D8B030D-6E8A-4147-A177-3AD203B41FA5}">
                      <a16:colId xmlns:a16="http://schemas.microsoft.com/office/drawing/2014/main" val="2560306255"/>
                    </a:ext>
                  </a:extLst>
                </a:gridCol>
              </a:tblGrid>
              <a:tr h="929980">
                <a:tc>
                  <a:txBody>
                    <a:bodyPr/>
                    <a:lstStyle/>
                    <a:p>
                      <a:r>
                        <a:rPr lang="en-US" dirty="0"/>
                        <a:t>                     Previous</a:t>
                      </a:r>
                      <a:endParaRPr lang="en-IN" dirty="0"/>
                    </a:p>
                  </a:txBody>
                  <a:tcPr/>
                </a:tc>
                <a:tc>
                  <a:txBody>
                    <a:bodyPr/>
                    <a:lstStyle/>
                    <a:p>
                      <a:r>
                        <a:rPr lang="en-US" dirty="0"/>
                        <a:t>   Proposed</a:t>
                      </a:r>
                      <a:endParaRPr lang="en-IN" dirty="0"/>
                    </a:p>
                  </a:txBody>
                  <a:tcPr/>
                </a:tc>
                <a:extLst>
                  <a:ext uri="{0D108BD9-81ED-4DB2-BD59-A6C34878D82A}">
                    <a16:rowId xmlns:a16="http://schemas.microsoft.com/office/drawing/2014/main" val="1804193352"/>
                  </a:ext>
                </a:extLst>
              </a:tr>
              <a:tr h="929980">
                <a:tc>
                  <a:txBody>
                    <a:bodyPr/>
                    <a:lstStyle/>
                    <a:p>
                      <a:r>
                        <a:rPr lang="en-US" dirty="0">
                          <a:latin typeface="Times New Roman" panose="02020603050405020304" pitchFamily="18" charset="0"/>
                          <a:cs typeface="Times New Roman" panose="02020603050405020304" pitchFamily="18" charset="0"/>
                        </a:rPr>
                        <a:t>Only grid electricity</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Solar energy with grid backup</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58001800"/>
                  </a:ext>
                </a:extLst>
              </a:tr>
              <a:tr h="929980">
                <a:tc>
                  <a:txBody>
                    <a:bodyPr/>
                    <a:lstStyle/>
                    <a:p>
                      <a:r>
                        <a:rPr lang="en-US" dirty="0">
                          <a:latin typeface="Times New Roman" panose="02020603050405020304" pitchFamily="18" charset="0"/>
                          <a:cs typeface="Times New Roman" panose="02020603050405020304" pitchFamily="18" charset="0"/>
                        </a:rPr>
                        <a:t>No smart monitoring</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Arduino based real time monitoring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998144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883660" y="2631440"/>
            <a:ext cx="4064000" cy="829945"/>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TotalTime>
  <Words>794</Words>
  <Application>Microsoft Office PowerPoint</Application>
  <PresentationFormat>Widescreen</PresentationFormat>
  <Paragraphs>118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PowerPoint Presentation</vt:lpstr>
      <vt:lpstr>ABSTRACT</vt:lpstr>
      <vt:lpstr>PowerPoint Presentation</vt:lpstr>
      <vt:lpstr>PowerPoint Presentation</vt:lpstr>
      <vt:lpstr>INTRODUCTION</vt:lpstr>
      <vt:lpstr>PowerPoint Presentation</vt:lpstr>
      <vt:lpstr>Components</vt:lpstr>
      <vt:lpstr>SPECIFICATIONS</vt:lpstr>
      <vt:lpstr>HARDWARE USED</vt:lpstr>
      <vt:lpstr>PowerPoint Presentation</vt:lpstr>
      <vt:lpstr>PowerPoint Presentation</vt:lpstr>
      <vt:lpstr>SOFTWARE USED :</vt:lpstr>
      <vt:lpstr>PowerPoint Presentation</vt:lpstr>
      <vt:lpstr>    ADVANTAGES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Shatvik Lakshman</dc:creator>
  <cp:lastModifiedBy>Sriram Chodavaram</cp:lastModifiedBy>
  <cp:revision>26</cp:revision>
  <dcterms:created xsi:type="dcterms:W3CDTF">2024-01-27T16:19:00Z</dcterms:created>
  <dcterms:modified xsi:type="dcterms:W3CDTF">2026-08-02T17:54:59Z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894FB288ED1D4C02AA34F09A60164792_13</vt:lpwstr>
  </property>
  <property fmtid="{D5CDD505-2E9C-101B-9397-08002B2CF9AE}" pid="3" name="KSOProductBuildVer">
    <vt:lpwstr>1033-12.2.0.23155</vt:lpwstr>
  </property>
</Properties>
</file>